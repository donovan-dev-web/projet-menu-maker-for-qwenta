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Montserra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26B8ED-A3ED-4CCC-9639-7F5EE29B873B}">
  <a:tblStyle styleId="{B826B8ED-A3ED-4CCC-9639-7F5EE29B87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Montserrat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7" Type="http://schemas.openxmlformats.org/officeDocument/2006/relationships/font" Target="fonts/Montserra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20e1dcab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d20e1dcab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20e1dcab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d20e1dcab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20e1dcab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d20e1dcab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20e1dcab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d20e1dcab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20e1dcabd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d20e1dcab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20e1dcabd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d20e1dcab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20e1dcabd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d20e1dcab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20e1dcabd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d20e1dcabd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392800" y="1537500"/>
            <a:ext cx="42222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fr" sz="3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PRÉSENTATION</a:t>
            </a:r>
            <a:br>
              <a:rPr b="0" i="0" lang="fr" sz="3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0" i="0" lang="fr" sz="3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fr" sz="3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Menu Maker</a:t>
            </a:r>
            <a:endParaRPr b="1" i="0" sz="3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15175" y="118275"/>
            <a:ext cx="2384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f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CHARTRAIN Donovan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f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24 / 03 / 2026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9575" y="0"/>
            <a:ext cx="674425" cy="34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17069664863132_Capture d’écran 2024-02-03 à 15.12.1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4275" y="3435550"/>
            <a:ext cx="1619250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>
                <a:latin typeface="Montserrat"/>
                <a:ea typeface="Montserrat"/>
                <a:cs typeface="Montserrat"/>
                <a:sym typeface="Montserrat"/>
              </a:rPr>
              <a:t>Sommaire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Montserrat"/>
              <a:buAutoNum type="arabicPeriod"/>
            </a:pPr>
            <a:r>
              <a:rPr lang="fr" sz="17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Contexte du projet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Montserrat"/>
              <a:buAutoNum type="arabicPeriod"/>
            </a:pPr>
            <a:r>
              <a:rPr lang="fr" sz="17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Aperçu de la maquette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Montserrat"/>
              <a:buAutoNum type="arabicPeriod"/>
            </a:pPr>
            <a:r>
              <a:rPr lang="fr" sz="17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Méthodologie utilisée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Montserrat"/>
              <a:buAutoNum type="arabicPeriod"/>
            </a:pPr>
            <a:r>
              <a:rPr lang="fr" sz="17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Tableau Kanban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Montserrat"/>
              <a:buAutoNum type="arabicPeriod"/>
            </a:pPr>
            <a:r>
              <a:rPr lang="fr" sz="17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Spécifications techniques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Montserrat"/>
              <a:buAutoNum type="arabicPeriod"/>
            </a:pPr>
            <a:r>
              <a:rPr lang="fr" sz="17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Veille technologique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Montserrat"/>
              <a:buAutoNum type="arabicPeriod"/>
            </a:pPr>
            <a:r>
              <a:rPr lang="fr" sz="17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Conclusion 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Montserrat"/>
              <a:buAutoNum type="arabicPeriod"/>
            </a:pPr>
            <a:r>
              <a:rPr lang="fr" sz="17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Questions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fr" sz="2000">
                <a:latin typeface="Montserrat"/>
                <a:ea typeface="Montserrat"/>
                <a:cs typeface="Montserrat"/>
                <a:sym typeface="Montserrat"/>
              </a:rPr>
              <a:t>Contexte du Projet</a:t>
            </a:r>
            <a:endParaRPr sz="3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434775" y="1085525"/>
            <a:ext cx="8320500" cy="22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Client : </a:t>
            </a:r>
            <a:r>
              <a:rPr i="1" lang="f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Qwenta : </a:t>
            </a:r>
            <a:br>
              <a:rPr i="1" lang="f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Entreprise spécialisée dans l’impression de support pour les professionnels</a:t>
            </a:r>
            <a:br>
              <a:rPr lang="f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f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1" lang="f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Problématique :  </a:t>
            </a:r>
            <a:br>
              <a:rPr i="1" lang="f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Créer une solution simple pour permettre aux restaurateurs de concevoir leurs menus.</a:t>
            </a:r>
            <a:br>
              <a:rPr lang="f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f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1" lang="f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Solution : </a:t>
            </a:r>
            <a:r>
              <a:rPr i="1" lang="f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Menu Maker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7ED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4375" y="-4"/>
            <a:ext cx="674425" cy="3405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434775" y="3359825"/>
            <a:ext cx="8039700" cy="14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fr" sz="1800">
                <a:solidFill>
                  <a:schemeClr val="dk2"/>
                </a:solidFill>
              </a:rPr>
              <a:t>Application web SaaS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fr" sz="1800">
                <a:solidFill>
                  <a:schemeClr val="dk2"/>
                </a:solidFill>
              </a:rPr>
              <a:t>Création rapide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fr" sz="1800">
                <a:solidFill>
                  <a:schemeClr val="dk2"/>
                </a:solidFill>
              </a:rPr>
              <a:t>Personnalisation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fr" sz="1800">
                <a:solidFill>
                  <a:schemeClr val="dk2"/>
                </a:solidFill>
              </a:rPr>
              <a:t>Export &amp; diffusion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fr" sz="2020">
                <a:latin typeface="Montserrat"/>
                <a:ea typeface="Montserrat"/>
                <a:cs typeface="Montserrat"/>
                <a:sym typeface="Montserrat"/>
              </a:rPr>
              <a:t>Aperçu de la maquette : écran d’accueil &amp; dashboard</a:t>
            </a:r>
            <a:endParaRPr sz="202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90"/>
              <a:buNone/>
            </a:pPr>
            <a:r>
              <a:t/>
            </a:r>
            <a:endParaRPr sz="182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7ED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 title="Capture d’écran 2022-05-02 à 11.21.1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17725"/>
            <a:ext cx="2673130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 title="Capture d’écran 2022-05-02 à 12.08.2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98155" y="1122200"/>
            <a:ext cx="5371422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fr" sz="2020">
                <a:latin typeface="Montserrat"/>
                <a:ea typeface="Montserrat"/>
                <a:cs typeface="Montserrat"/>
                <a:sym typeface="Montserrat"/>
              </a:rPr>
              <a:t>Aperçu de la maquette : création de menus &amp; personnalisation</a:t>
            </a:r>
            <a:endParaRPr sz="202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90"/>
              <a:buNone/>
            </a:pPr>
            <a:r>
              <a:t/>
            </a:r>
            <a:endParaRPr sz="182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7ED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9575" y="-4"/>
            <a:ext cx="674426" cy="34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 title="Capture d’écran 2022-05-02 à 11.49.0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70125"/>
            <a:ext cx="4419601" cy="3128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title="Capture d’écran 2022-05-02 à 11.57.1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1" y="1170125"/>
            <a:ext cx="4419600" cy="3135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fr" sz="2020">
                <a:latin typeface="Montserrat"/>
                <a:ea typeface="Montserrat"/>
                <a:cs typeface="Montserrat"/>
                <a:sym typeface="Montserrat"/>
              </a:rPr>
              <a:t>Aperçu de la maquette : menu précédents &amp; diffusion</a:t>
            </a:r>
            <a:endParaRPr sz="182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7ED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9575" y="-4"/>
            <a:ext cx="674426" cy="34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 title="Capture d’écran 2022-05-02 à 12.12.5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70125"/>
            <a:ext cx="4419600" cy="3142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 title="Capture d’écran 2022-05-02 à 12.25.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1170125"/>
            <a:ext cx="4419599" cy="3143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fr" sz="2000">
                <a:latin typeface="Montserrat"/>
                <a:ea typeface="Montserrat"/>
                <a:cs typeface="Montserrat"/>
                <a:sym typeface="Montserrat"/>
              </a:rPr>
              <a:t>Suivi du projet avec le Kanban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311700" y="1017725"/>
            <a:ext cx="274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fr">
                <a:latin typeface="Montserrat"/>
                <a:ea typeface="Montserrat"/>
                <a:cs typeface="Montserrat"/>
                <a:sym typeface="Montserrat"/>
              </a:rPr>
              <a:t>Agile – approche Kanban</a:t>
            </a:r>
            <a:endParaRPr b="1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7ED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 txBox="1"/>
          <p:nvPr/>
        </p:nvSpPr>
        <p:spPr>
          <a:xfrm>
            <a:off x="311700" y="1417925"/>
            <a:ext cx="3809400" cy="13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fr" sz="1800">
                <a:solidFill>
                  <a:schemeClr val="dk2"/>
                </a:solidFill>
              </a:rPr>
              <a:t>Organisation visuel du travail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fr" sz="1800">
                <a:solidFill>
                  <a:schemeClr val="dk2"/>
                </a:solidFill>
              </a:rPr>
              <a:t>Priorisation continue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fr" sz="1800">
                <a:solidFill>
                  <a:schemeClr val="dk2"/>
                </a:solidFill>
              </a:rPr>
              <a:t>Adaptation rapide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fr" sz="1800">
                <a:solidFill>
                  <a:schemeClr val="dk2"/>
                </a:solidFill>
              </a:rPr>
              <a:t>Communication client regulière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0" name="Google Shape;110;p19" title="Screenshot 2026-03-24 at 13-35-27 Menu Maker - Kanban Vue Kanban No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1100" y="1017725"/>
            <a:ext cx="4718101" cy="2745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fr" sz="2000">
                <a:latin typeface="Montserrat"/>
                <a:ea typeface="Montserrat"/>
                <a:cs typeface="Montserrat"/>
                <a:sym typeface="Montserrat"/>
              </a:rPr>
              <a:t>Organisation du Kanban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311700" y="884025"/>
            <a:ext cx="451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>
                <a:latin typeface="Montserrat"/>
                <a:ea typeface="Montserrat"/>
                <a:cs typeface="Montserrat"/>
                <a:sym typeface="Montserrat"/>
              </a:rPr>
              <a:t>Colonnes : À faire / En cours / À tester / Terminé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0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7ED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9575" y="-4"/>
            <a:ext cx="674426" cy="34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 title="Screenshot 2026-03-24 at 13-35-27 Menu Maker - Kanban Vue Kanban No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6674" y="1284225"/>
            <a:ext cx="6392801" cy="372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340550"/>
            <a:ext cx="85206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40000"/>
              <a:buNone/>
            </a:pPr>
            <a:r>
              <a:rPr lang="fr" sz="2000">
                <a:latin typeface="Montserrat"/>
                <a:ea typeface="Montserrat"/>
                <a:cs typeface="Montserrat"/>
                <a:sym typeface="Montserrat"/>
              </a:rPr>
              <a:t>Structure des tâches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21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7ED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9575" y="-4"/>
            <a:ext cx="674426" cy="34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1" title="Screenshot 2026-03-24 at 13-42-50 Menu Maker - Kanban Toutes les tâches No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90250"/>
            <a:ext cx="7747892" cy="435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340550"/>
            <a:ext cx="85206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40000"/>
              <a:buNone/>
            </a:pPr>
            <a:r>
              <a:rPr lang="fr" sz="2000">
                <a:latin typeface="Montserrat"/>
                <a:ea typeface="Montserrat"/>
                <a:cs typeface="Montserrat"/>
                <a:sym typeface="Montserrat"/>
              </a:rPr>
              <a:t>Pilotage du projet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22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7ED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9575" y="-4"/>
            <a:ext cx="674426" cy="34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2" title="Screenshot 2026-03-24 at 13-45-30 Menu Maker - Kanban Planning (Timeline) No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90250"/>
            <a:ext cx="8123209" cy="435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239700"/>
            <a:ext cx="85206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fr" sz="1800">
                <a:latin typeface="Montserrat"/>
                <a:ea typeface="Montserrat"/>
                <a:cs typeface="Montserrat"/>
                <a:sym typeface="Montserrat"/>
              </a:rPr>
              <a:t>Architecture globale : C4 model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3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7ED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3" title="Container-001-dark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13828"/>
            <a:ext cx="9144003" cy="4585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type="title"/>
          </p:nvPr>
        </p:nvSpPr>
        <p:spPr>
          <a:xfrm>
            <a:off x="311700" y="255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fr" sz="1800">
                <a:latin typeface="Montserrat"/>
                <a:ea typeface="Montserrat"/>
                <a:cs typeface="Montserrat"/>
                <a:sym typeface="Montserrat"/>
              </a:rPr>
              <a:t>Spécifications techniques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24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7ED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9575" y="-4"/>
            <a:ext cx="674426" cy="3405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2" name="Google Shape;152;p24"/>
          <p:cNvGraphicFramePr/>
          <p:nvPr/>
        </p:nvGraphicFramePr>
        <p:xfrm>
          <a:off x="311700" y="84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{B826B8ED-A3ED-4CCC-9639-7F5EE29B873B}</a:tableStyleId>
              </a:tblPr>
              <a:tblGrid>
                <a:gridCol w="1631575"/>
                <a:gridCol w="1631575"/>
                <a:gridCol w="1631575"/>
                <a:gridCol w="1631575"/>
                <a:gridCol w="1631575"/>
              </a:tblGrid>
              <a:tr h="388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Besoin 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57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Contraintes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57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Solution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57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Description de la solution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57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Justification (2 arguments)</a:t>
                      </a:r>
                      <a:endParaRPr b="1"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57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3FB"/>
                    </a:solidFill>
                  </a:tcPr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Architecture frontend de l’application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Application SaaS interactive avec peu de SEO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React + Vite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Framework React pour UI + Vite comme bundler rapide pour SPA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1) Build rapide et configuration légère. 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2) Parfait pour application SaaS interne.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Aperçu du menu avant export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Doit correspondre exactement au PDF final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React-PDF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Librairie React permettant de générer et prévisualiser des PDF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1) Aperçu fidèle. 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2) Génération PDF côté client.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Architecture backend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API REST scalable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Node.js + Express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Backend exposant endpoints REST pour gérer données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1) Rapide à développer.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2) Cohérence JS fullstack.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Authentification utilisateur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Magic link + OAuth + sécurité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BetterAuth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Gestion authentification moderne avec magic link et Social Login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1) UX moderne.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2) Gestion intégrations externes.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Stockage des menus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Structure flexible menus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MongoDB</a:t>
                      </a:r>
                      <a:endParaRPr b="1"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Base NoSQL stockant menus sous forme documents JSON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1) Structure naturelle pour les menus.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2) Pas de tables relationnelles complexes.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311700" y="255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fr" sz="1800">
                <a:latin typeface="Montserrat"/>
                <a:ea typeface="Montserrat"/>
                <a:cs typeface="Montserrat"/>
                <a:sym typeface="Montserrat"/>
              </a:rPr>
              <a:t>Spécifications techniques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5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7ED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9575" y="-4"/>
            <a:ext cx="674426" cy="340549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5"/>
          <p:cNvSpPr txBox="1"/>
          <p:nvPr/>
        </p:nvSpPr>
        <p:spPr>
          <a:xfrm>
            <a:off x="311700" y="828550"/>
            <a:ext cx="8157900" cy="3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l’application repose sur </a:t>
            </a:r>
            <a:r>
              <a:rPr b="1" lang="f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une API REST sécurisée</a:t>
            </a:r>
            <a:r>
              <a:rPr lang="f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Cette API permettra au frontend de communiquer avec le backend via des requêtes HTTP authentifiées.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Les principales fonctionnalités exposées par l’API sont :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f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authentification des utilisateurs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f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gestion des comptes restaurateurs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f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création et modification des menus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f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gestion des catégories et des plats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f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gestion du branding (logo, couleurs, typographies)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f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upload et gestion des images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f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export des menus vers des services externes (Deliveroo, Instagram, PDF, impression)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Les exports vers des services externes ne seront pas exécutés directement par l’API mais envoyés dans une </a:t>
            </a:r>
            <a:r>
              <a:rPr b="1" lang="f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file RabbitMQ</a:t>
            </a:r>
            <a:r>
              <a:rPr lang="f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où ils seront traités par un worker dédié.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Cette approche permet :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f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d’éviter les blocages de l’API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f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 gérer les erreurs et les retries automatiquement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f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d’améliorer la fiabilité des intégrations externes et la scalabilité globale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311700" y="255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fr" sz="1800">
                <a:latin typeface="Montserrat"/>
                <a:ea typeface="Montserrat"/>
                <a:cs typeface="Montserrat"/>
                <a:sym typeface="Montserrat"/>
              </a:rPr>
              <a:t>Focus technique (Worker + RabbitMQ)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26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7ED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9575" y="-4"/>
            <a:ext cx="674426" cy="34054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6"/>
          <p:cNvSpPr txBox="1"/>
          <p:nvPr/>
        </p:nvSpPr>
        <p:spPr>
          <a:xfrm>
            <a:off x="311700" y="828550"/>
            <a:ext cx="4260300" cy="43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Problématique :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Certaines actions sont longues et coûteuses :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fr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Export PDF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fr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Publication Instagram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fr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Envoi vers Deliveroo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Risque :</a:t>
            </a:r>
            <a:r>
              <a:rPr lang="fr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fr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ralentir l’application pour l’utilisateur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fr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Crash complet en cas de saturation mémoire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Solution :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Utilisation d’un système asynchrone avec file de messages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fr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L’utilisateur lance une action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fr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L’API envoie une tâche dans RabbitMQ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fr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 worker récupère et traite la tâche en arrière-plan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9" name="Google Shape;169;p26" title="unnam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689950"/>
            <a:ext cx="4267201" cy="2327564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6"/>
          <p:cNvSpPr txBox="1"/>
          <p:nvPr/>
        </p:nvSpPr>
        <p:spPr>
          <a:xfrm>
            <a:off x="4616575" y="3531250"/>
            <a:ext cx="4260300" cy="16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Avantages :</a:t>
            </a:r>
            <a:endParaRPr b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Application rapide et fluide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Aucune attente côté utilisateur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Système scalable (plusieurs workers possibles)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Isolation du traitment sensible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>
            <a:off x="311700" y="2397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fr" sz="2000">
                <a:latin typeface="Montserrat"/>
                <a:ea typeface="Montserrat"/>
                <a:cs typeface="Montserrat"/>
                <a:sym typeface="Montserrat"/>
              </a:rPr>
              <a:t>Veille Technologique</a:t>
            </a:r>
            <a:endParaRPr sz="2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27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7ED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7" title="Screenshot 2026-03-25 at 09-48-02 Dev web Gener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81444"/>
            <a:ext cx="9144000" cy="4362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>
            <p:ph type="title"/>
          </p:nvPr>
        </p:nvSpPr>
        <p:spPr>
          <a:xfrm>
            <a:off x="311700" y="258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fr" sz="2000"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 sz="2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28"/>
          <p:cNvSpPr txBox="1"/>
          <p:nvPr/>
        </p:nvSpPr>
        <p:spPr>
          <a:xfrm>
            <a:off x="311700" y="1310750"/>
            <a:ext cx="39975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Menu Maker</a:t>
            </a:r>
            <a:br>
              <a:rPr lang="fr" sz="15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" sz="15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Application SaaS pour :</a:t>
            </a:r>
            <a:endParaRPr sz="15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5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Créer des menus</a:t>
            </a:r>
            <a:endParaRPr sz="15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5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Personnaliser le design</a:t>
            </a:r>
            <a:endParaRPr sz="15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5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Exporter &amp; diffuser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8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7ED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8"/>
          <p:cNvSpPr txBox="1"/>
          <p:nvPr/>
        </p:nvSpPr>
        <p:spPr>
          <a:xfrm>
            <a:off x="4309200" y="1310750"/>
            <a:ext cx="4160400" cy="13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Technique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lang="f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Stack : React / Node.js / MongoDB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lang="f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API REST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lang="f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Asynchrone : RabbitMQ + workers</a:t>
            </a:r>
            <a:endParaRPr b="1" sz="19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28"/>
          <p:cNvSpPr txBox="1"/>
          <p:nvPr/>
        </p:nvSpPr>
        <p:spPr>
          <a:xfrm>
            <a:off x="311700" y="2942450"/>
            <a:ext cx="39975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Organisation</a:t>
            </a:r>
            <a:endParaRPr sz="15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5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Méthode Agile (Kanban)</a:t>
            </a:r>
            <a:endParaRPr sz="15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5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Gestion : tâches, sprints, planning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8"/>
          <p:cNvSpPr txBox="1"/>
          <p:nvPr/>
        </p:nvSpPr>
        <p:spPr>
          <a:xfrm>
            <a:off x="4309200" y="2942450"/>
            <a:ext cx="41604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Veille</a:t>
            </a:r>
            <a:endParaRPr sz="15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5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Choix techniques pertinents</a:t>
            </a:r>
            <a:endParaRPr sz="15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5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Suivit des actualité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28" title="17069664863132_Capture d’écran 2024-02-03 à 15.12.1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2350" y="430950"/>
            <a:ext cx="1619250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/>
        </p:nvSpPr>
        <p:spPr>
          <a:xfrm>
            <a:off x="2411475" y="2125800"/>
            <a:ext cx="42222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fr" sz="3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QUESTIONS ?</a:t>
            </a:r>
            <a:endParaRPr b="0" i="0" sz="3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29"/>
          <p:cNvSpPr txBox="1"/>
          <p:nvPr/>
        </p:nvSpPr>
        <p:spPr>
          <a:xfrm>
            <a:off x="115175" y="118275"/>
            <a:ext cx="2384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8" name="Google Shape;19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